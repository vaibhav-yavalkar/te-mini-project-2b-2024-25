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7" r:id="rId1"/>
    <p:sldMasterId id="2147483665" r:id="rId2"/>
    <p:sldMasterId id="2147483666" r:id="rId3"/>
    <p:sldMasterId id="2147483667" r:id="rId4"/>
    <p:sldMasterId id="2147483668" r:id="rId5"/>
  </p:sldMasterIdLst>
  <p:notesMasterIdLst>
    <p:notesMasterId r:id="rId22"/>
  </p:notesMasterIdLst>
  <p:sldIdLst>
    <p:sldId id="256" r:id="rId6"/>
    <p:sldId id="257" r:id="rId7"/>
    <p:sldId id="258" r:id="rId8"/>
    <p:sldId id="272" r:id="rId9"/>
    <p:sldId id="273" r:id="rId10"/>
    <p:sldId id="282" r:id="rId11"/>
    <p:sldId id="274" r:id="rId12"/>
    <p:sldId id="263" r:id="rId13"/>
    <p:sldId id="276" r:id="rId14"/>
    <p:sldId id="277" r:id="rId15"/>
    <p:sldId id="278" r:id="rId16"/>
    <p:sldId id="279" r:id="rId17"/>
    <p:sldId id="283" r:id="rId18"/>
    <p:sldId id="280" r:id="rId19"/>
    <p:sldId id="281" r:id="rId20"/>
    <p:sldId id="270" r:id="rId21"/>
  </p:sldIdLst>
  <p:sldSz cx="10080625" cy="7559675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26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32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12800"/>
            <a:ext cx="7126287" cy="4006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121384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fld>
            <a:endParaRPr/>
          </a:p>
        </p:txBody>
      </p:sp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16" name="Google Shape;216;p2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266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fld>
            <a:endParaRPr/>
          </a:p>
        </p:txBody>
      </p:sp>
      <p:sp>
        <p:nvSpPr>
          <p:cNvPr id="223" name="Google Shape;2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24" name="Google Shape;224;p3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1044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fld>
            <a:endParaRPr/>
          </a:p>
        </p:txBody>
      </p:sp>
      <p:sp>
        <p:nvSpPr>
          <p:cNvPr id="230" name="Google Shape;2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3427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fld>
            <a:endParaRPr/>
          </a:p>
        </p:txBody>
      </p:sp>
      <p:sp>
        <p:nvSpPr>
          <p:cNvPr id="230" name="Google Shape;2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704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fld>
            <a:endParaRPr/>
          </a:p>
        </p:txBody>
      </p:sp>
      <p:sp>
        <p:nvSpPr>
          <p:cNvPr id="230" name="Google Shape;2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4078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fld>
            <a:endParaRPr/>
          </a:p>
        </p:txBody>
      </p:sp>
      <p:sp>
        <p:nvSpPr>
          <p:cNvPr id="230" name="Google Shape;2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3827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7</a:t>
            </a:fld>
            <a:endParaRPr/>
          </a:p>
        </p:txBody>
      </p:sp>
      <p:sp>
        <p:nvSpPr>
          <p:cNvPr id="230" name="Google Shape;2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5393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8</a:t>
            </a:fld>
            <a:endParaRPr/>
          </a:p>
        </p:txBody>
      </p:sp>
      <p:sp>
        <p:nvSpPr>
          <p:cNvPr id="230" name="Google Shape;2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4954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9</a:t>
            </a:fld>
            <a:endParaRPr/>
          </a:p>
        </p:txBody>
      </p:sp>
      <p:sp>
        <p:nvSpPr>
          <p:cNvPr id="230" name="Google Shape;2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6978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10</a:t>
            </a:fld>
            <a:endParaRPr/>
          </a:p>
        </p:txBody>
      </p:sp>
      <p:sp>
        <p:nvSpPr>
          <p:cNvPr id="230" name="Google Shape;2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3924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11</a:t>
            </a:fld>
            <a:endParaRPr/>
          </a:p>
        </p:txBody>
      </p:sp>
      <p:sp>
        <p:nvSpPr>
          <p:cNvPr id="230" name="Google Shape;2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4151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12</a:t>
            </a:fld>
            <a:endParaRPr/>
          </a:p>
        </p:txBody>
      </p:sp>
      <p:sp>
        <p:nvSpPr>
          <p:cNvPr id="230" name="Google Shape;2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90588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13</a:t>
            </a:fld>
            <a:endParaRPr/>
          </a:p>
        </p:txBody>
      </p:sp>
      <p:sp>
        <p:nvSpPr>
          <p:cNvPr id="230" name="Google Shape;2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39593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14</a:t>
            </a:fld>
            <a:endParaRPr/>
          </a:p>
        </p:txBody>
      </p:sp>
      <p:sp>
        <p:nvSpPr>
          <p:cNvPr id="230" name="Google Shape;2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6639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15</a:t>
            </a:fld>
            <a:endParaRPr/>
          </a:p>
        </p:txBody>
      </p:sp>
      <p:sp>
        <p:nvSpPr>
          <p:cNvPr id="230" name="Google Shape;2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31" name="Google Shape;231;p4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32802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16</a:t>
            </a:fld>
            <a:endParaRPr/>
          </a:p>
        </p:txBody>
      </p:sp>
      <p:sp>
        <p:nvSpPr>
          <p:cNvPr id="307" name="Google Shape;3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6488" y="812800"/>
            <a:ext cx="5346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308" name="Google Shape;308;p13:notes"/>
          <p:cNvSpPr txBox="1">
            <a:spLocks noGrp="1"/>
          </p:cNvSpPr>
          <p:nvPr>
            <p:ph type="body" idx="1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6600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968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title"/>
          </p:nvPr>
        </p:nvSpPr>
        <p:spPr>
          <a:xfrm rot="5400000">
            <a:off x="4234732" y="3026812"/>
            <a:ext cx="5788752" cy="107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body" idx="1"/>
          </p:nvPr>
        </p:nvSpPr>
        <p:spPr>
          <a:xfrm rot="5400000">
            <a:off x="641243" y="702770"/>
            <a:ext cx="5788752" cy="5727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body" idx="1"/>
          </p:nvPr>
        </p:nvSpPr>
        <p:spPr>
          <a:xfrm rot="5400000">
            <a:off x="2031206" y="1021556"/>
            <a:ext cx="4278312" cy="69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 txBox="1">
            <a:spLocks noGrp="1"/>
          </p:cNvSpPr>
          <p:nvPr>
            <p:ph type="title"/>
          </p:nvPr>
        </p:nvSpPr>
        <p:spPr>
          <a:xfrm>
            <a:off x="678930" y="671971"/>
            <a:ext cx="6991025" cy="3331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5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"/>
          <p:cNvSpPr txBox="1">
            <a:spLocks noGrp="1"/>
          </p:cNvSpPr>
          <p:nvPr>
            <p:ph type="body" idx="1"/>
          </p:nvPr>
        </p:nvSpPr>
        <p:spPr>
          <a:xfrm>
            <a:off x="672038" y="4423810"/>
            <a:ext cx="6997916" cy="56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2117"/>
              <a:buFont typeface="Trebuchet MS"/>
              <a:buNone/>
              <a:defRPr sz="2646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360"/>
              <a:buFont typeface="Trebuchet MS"/>
              <a:buNone/>
              <a:defRPr/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1200"/>
              <a:buFont typeface="Trebuchet MS"/>
              <a:buNone/>
              <a:defRPr/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5pPr>
            <a:lvl6pPr marL="2743200" lvl="5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body" idx="2"/>
          </p:nvPr>
        </p:nvSpPr>
        <p:spPr>
          <a:xfrm>
            <a:off x="672040" y="4990673"/>
            <a:ext cx="6997915" cy="1668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7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 txBox="1">
            <a:spLocks noGrp="1"/>
          </p:cNvSpPr>
          <p:nvPr>
            <p:ph type="title"/>
          </p:nvPr>
        </p:nvSpPr>
        <p:spPr>
          <a:xfrm>
            <a:off x="672040" y="2129659"/>
            <a:ext cx="6997915" cy="2861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5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"/>
          <p:cNvSpPr txBox="1"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8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 txBox="1">
            <a:spLocks noGrp="1"/>
          </p:cNvSpPr>
          <p:nvPr>
            <p:ph type="title"/>
          </p:nvPr>
        </p:nvSpPr>
        <p:spPr>
          <a:xfrm>
            <a:off x="672042" y="671971"/>
            <a:ext cx="6997914" cy="3751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5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body" idx="1"/>
          </p:nvPr>
        </p:nvSpPr>
        <p:spPr>
          <a:xfrm>
            <a:off x="672042" y="4927788"/>
            <a:ext cx="6997914" cy="1731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9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>
            <a:spLocks noGrp="1"/>
          </p:cNvSpPr>
          <p:nvPr>
            <p:ph type="title"/>
          </p:nvPr>
        </p:nvSpPr>
        <p:spPr>
          <a:xfrm>
            <a:off x="672041" y="5291772"/>
            <a:ext cx="6997914" cy="624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46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0"/>
          <p:cNvSpPr>
            <a:spLocks noGrp="1"/>
          </p:cNvSpPr>
          <p:nvPr>
            <p:ph type="pic" idx="2"/>
          </p:nvPr>
        </p:nvSpPr>
        <p:spPr>
          <a:xfrm>
            <a:off x="672041" y="671971"/>
            <a:ext cx="6997914" cy="4239192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0"/>
          <p:cNvSpPr txBox="1">
            <a:spLocks noGrp="1"/>
          </p:cNvSpPr>
          <p:nvPr>
            <p:ph type="body" idx="1"/>
          </p:nvPr>
        </p:nvSpPr>
        <p:spPr>
          <a:xfrm>
            <a:off x="672041" y="5916496"/>
            <a:ext cx="6997914" cy="7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1058"/>
              <a:buNone/>
              <a:defRPr sz="1323"/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058"/>
              <a:buNone/>
              <a:defRPr sz="1323"/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882"/>
              <a:buNone/>
              <a:defRPr sz="1102"/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794"/>
              <a:buNone/>
              <a:defRPr sz="992"/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794"/>
              <a:buNone/>
              <a:defRPr sz="992"/>
            </a:lvl5pPr>
            <a:lvl6pPr marL="2743200" lvl="5" indent="-228600" algn="l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6pPr>
            <a:lvl7pPr marL="3200400" lvl="6" indent="-228600" algn="l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7pPr>
            <a:lvl8pPr marL="3657600" lvl="7" indent="-228600" algn="l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8pPr>
            <a:lvl9pPr marL="4114800" lvl="8" indent="-228600" algn="l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9pPr>
          </a:lstStyle>
          <a:p>
            <a:endParaRPr/>
          </a:p>
        </p:txBody>
      </p:sp>
      <p:sp>
        <p:nvSpPr>
          <p:cNvPr id="90" name="Google Shape;90;p10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0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0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>
            <a:spLocks noGrp="1"/>
          </p:cNvSpPr>
          <p:nvPr>
            <p:ph type="title"/>
          </p:nvPr>
        </p:nvSpPr>
        <p:spPr>
          <a:xfrm>
            <a:off x="672041" y="1651933"/>
            <a:ext cx="3075982" cy="1409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1"/>
          </p:nvPr>
        </p:nvSpPr>
        <p:spPr>
          <a:xfrm>
            <a:off x="3937083" y="567610"/>
            <a:ext cx="3732871" cy="609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body" idx="2"/>
          </p:nvPr>
        </p:nvSpPr>
        <p:spPr>
          <a:xfrm>
            <a:off x="672041" y="3061205"/>
            <a:ext cx="3075982" cy="2848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/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926"/>
              <a:buNone/>
              <a:defRPr sz="1157"/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794"/>
              <a:buNone/>
              <a:defRPr sz="992"/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662"/>
              <a:buNone/>
              <a:defRPr sz="827"/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662"/>
              <a:buNone/>
              <a:defRPr sz="827"/>
            </a:lvl5pPr>
            <a:lvl6pPr marL="2743200" lvl="5" indent="-228600" algn="l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6pPr>
            <a:lvl7pPr marL="3200400" lvl="6" indent="-228600" algn="l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7pPr>
            <a:lvl8pPr marL="3657600" lvl="7" indent="-228600" algn="l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8pPr>
            <a:lvl9pPr marL="4114800" lvl="8" indent="-228600" algn="l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672041" y="671971"/>
            <a:ext cx="6997914" cy="145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title"/>
          </p:nvPr>
        </p:nvSpPr>
        <p:spPr>
          <a:xfrm>
            <a:off x="672041" y="671971"/>
            <a:ext cx="6997913" cy="145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body" idx="1"/>
          </p:nvPr>
        </p:nvSpPr>
        <p:spPr>
          <a:xfrm>
            <a:off x="672041" y="2382084"/>
            <a:ext cx="3407251" cy="635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2117"/>
              <a:buNone/>
              <a:defRPr sz="2646" b="0"/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764"/>
              <a:buNone/>
              <a:defRPr sz="2205" b="1"/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 b="1"/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 b="1"/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 b="1"/>
            </a:lvl5pPr>
            <a:lvl6pPr marL="2743200" lvl="5" indent="-228600" algn="l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6pPr>
            <a:lvl7pPr marL="3200400" lvl="6" indent="-228600" algn="l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7pPr>
            <a:lvl8pPr marL="3657600" lvl="7" indent="-228600" algn="l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8pPr>
            <a:lvl9pPr marL="4114800" lvl="8" indent="-228600" algn="l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9pPr>
          </a:lstStyle>
          <a:p>
            <a:endParaRPr/>
          </a:p>
        </p:txBody>
      </p:sp>
      <p:sp>
        <p:nvSpPr>
          <p:cNvPr id="112" name="Google Shape;112;p14"/>
          <p:cNvSpPr txBox="1">
            <a:spLocks noGrp="1"/>
          </p:cNvSpPr>
          <p:nvPr>
            <p:ph type="body" idx="2"/>
          </p:nvPr>
        </p:nvSpPr>
        <p:spPr>
          <a:xfrm>
            <a:off x="672041" y="3017307"/>
            <a:ext cx="3407251" cy="3642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body" idx="3"/>
          </p:nvPr>
        </p:nvSpPr>
        <p:spPr>
          <a:xfrm>
            <a:off x="4262702" y="2382084"/>
            <a:ext cx="3407251" cy="635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2117"/>
              <a:buNone/>
              <a:defRPr sz="2646" b="0"/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764"/>
              <a:buNone/>
              <a:defRPr sz="2205" b="1"/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 b="1"/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 b="1"/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 b="1"/>
            </a:lvl5pPr>
            <a:lvl6pPr marL="2743200" lvl="5" indent="-228600" algn="l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6pPr>
            <a:lvl7pPr marL="3200400" lvl="6" indent="-228600" algn="l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7pPr>
            <a:lvl8pPr marL="3657600" lvl="7" indent="-228600" algn="l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8pPr>
            <a:lvl9pPr marL="4114800" lvl="8" indent="-228600" algn="l">
              <a:spcBef>
                <a:spcPts val="1102"/>
              </a:spcBef>
              <a:spcAft>
                <a:spcPts val="0"/>
              </a:spcAft>
              <a:buSzPts val="1411"/>
              <a:buNone/>
              <a:defRPr sz="1764" b="1"/>
            </a:lvl9pPr>
          </a:lstStyle>
          <a:p>
            <a:endParaRPr/>
          </a:p>
        </p:txBody>
      </p:sp>
      <p:sp>
        <p:nvSpPr>
          <p:cNvPr id="114" name="Google Shape;114;p14"/>
          <p:cNvSpPr txBox="1">
            <a:spLocks noGrp="1"/>
          </p:cNvSpPr>
          <p:nvPr>
            <p:ph type="body" idx="4"/>
          </p:nvPr>
        </p:nvSpPr>
        <p:spPr>
          <a:xfrm>
            <a:off x="4262702" y="3017307"/>
            <a:ext cx="3407251" cy="3642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5" name="Google Shape;115;p14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4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4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672042" y="671971"/>
            <a:ext cx="6997914" cy="145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body" idx="1"/>
          </p:nvPr>
        </p:nvSpPr>
        <p:spPr>
          <a:xfrm>
            <a:off x="672042" y="2381649"/>
            <a:ext cx="3404426" cy="4277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9387" algn="l">
              <a:spcBef>
                <a:spcPts val="1100"/>
              </a:spcBef>
              <a:spcAft>
                <a:spcPts val="0"/>
              </a:spcAft>
              <a:buSzPts val="1587"/>
              <a:buChar char="►"/>
              <a:defRPr sz="1984"/>
            </a:lvl1pPr>
            <a:lvl2pPr marL="914400" lvl="1" indent="-318211" algn="l">
              <a:spcBef>
                <a:spcPts val="1100"/>
              </a:spcBef>
              <a:spcAft>
                <a:spcPts val="0"/>
              </a:spcAft>
              <a:buSzPts val="1411"/>
              <a:buChar char="►"/>
              <a:defRPr sz="1764"/>
            </a:lvl2pPr>
            <a:lvl3pPr marL="1371600" lvl="2" indent="-306984" algn="l">
              <a:spcBef>
                <a:spcPts val="1100"/>
              </a:spcBef>
              <a:spcAft>
                <a:spcPts val="0"/>
              </a:spcAft>
              <a:buSzPts val="1234"/>
              <a:buChar char="►"/>
              <a:defRPr sz="1543"/>
            </a:lvl3pPr>
            <a:lvl4pPr marL="1828800" lvl="3" indent="-295808" algn="l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4pPr>
            <a:lvl5pPr marL="2286000" lvl="4" indent="-295808" algn="l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5pPr>
            <a:lvl6pPr marL="2743200" lvl="5" indent="-295808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6pPr>
            <a:lvl7pPr marL="3200400" lvl="6" indent="-295808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7pPr>
            <a:lvl8pPr marL="3657600" lvl="7" indent="-295808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8pPr>
            <a:lvl9pPr marL="4114800" lvl="8" indent="-295808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9pPr>
          </a:lstStyle>
          <a:p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body" idx="2"/>
          </p:nvPr>
        </p:nvSpPr>
        <p:spPr>
          <a:xfrm>
            <a:off x="4265529" y="2381651"/>
            <a:ext cx="3404427" cy="4277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9387" algn="l">
              <a:spcBef>
                <a:spcPts val="1100"/>
              </a:spcBef>
              <a:spcAft>
                <a:spcPts val="0"/>
              </a:spcAft>
              <a:buSzPts val="1587"/>
              <a:buChar char="►"/>
              <a:defRPr sz="1984"/>
            </a:lvl1pPr>
            <a:lvl2pPr marL="914400" lvl="1" indent="-318211" algn="l">
              <a:spcBef>
                <a:spcPts val="1100"/>
              </a:spcBef>
              <a:spcAft>
                <a:spcPts val="0"/>
              </a:spcAft>
              <a:buSzPts val="1411"/>
              <a:buChar char="►"/>
              <a:defRPr sz="1764"/>
            </a:lvl2pPr>
            <a:lvl3pPr marL="1371600" lvl="2" indent="-306984" algn="l">
              <a:spcBef>
                <a:spcPts val="1100"/>
              </a:spcBef>
              <a:spcAft>
                <a:spcPts val="0"/>
              </a:spcAft>
              <a:buSzPts val="1234"/>
              <a:buChar char="►"/>
              <a:defRPr sz="1543"/>
            </a:lvl3pPr>
            <a:lvl4pPr marL="1828800" lvl="3" indent="-295808" algn="l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4pPr>
            <a:lvl5pPr marL="2286000" lvl="4" indent="-295808" algn="l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5pPr>
            <a:lvl6pPr marL="2743200" lvl="5" indent="-295808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6pPr>
            <a:lvl7pPr marL="3200400" lvl="6" indent="-295808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7pPr>
            <a:lvl8pPr marL="3657600" lvl="7" indent="-295808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8pPr>
            <a:lvl9pPr marL="4114800" lvl="8" indent="-295808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9pPr>
          </a:lstStyle>
          <a:p>
            <a:endParaRPr/>
          </a:p>
        </p:txBody>
      </p:sp>
      <p:sp>
        <p:nvSpPr>
          <p:cNvPr id="122" name="Google Shape;122;p15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>
            <a:spLocks noGrp="1"/>
          </p:cNvSpPr>
          <p:nvPr>
            <p:ph type="title"/>
          </p:nvPr>
        </p:nvSpPr>
        <p:spPr>
          <a:xfrm>
            <a:off x="672040" y="2977208"/>
            <a:ext cx="6997915" cy="2013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9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body" idx="1"/>
          </p:nvPr>
        </p:nvSpPr>
        <p:spPr>
          <a:xfrm>
            <a:off x="672040" y="4990673"/>
            <a:ext cx="6997915" cy="948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1764"/>
              <a:buNone/>
              <a:defRPr sz="2205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968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>
            <a:spLocks noGrp="1"/>
          </p:cNvSpPr>
          <p:nvPr>
            <p:ph type="ctrTitle"/>
          </p:nvPr>
        </p:nvSpPr>
        <p:spPr>
          <a:xfrm>
            <a:off x="1246403" y="2650553"/>
            <a:ext cx="6423553" cy="181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5952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8"/>
          <p:cNvSpPr txBox="1">
            <a:spLocks noGrp="1"/>
          </p:cNvSpPr>
          <p:nvPr>
            <p:ph type="subTitle" idx="1"/>
          </p:nvPr>
        </p:nvSpPr>
        <p:spPr>
          <a:xfrm>
            <a:off x="1246403" y="4465295"/>
            <a:ext cx="6423553" cy="1209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1100"/>
              </a:spcBef>
              <a:spcAft>
                <a:spcPts val="0"/>
              </a:spcAft>
              <a:buSzPts val="152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100"/>
              </a:spcBef>
              <a:spcAft>
                <a:spcPts val="0"/>
              </a:spcAft>
              <a:buSzPts val="136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1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100"/>
              </a:spcBef>
              <a:spcAft>
                <a:spcPts val="0"/>
              </a:spcAft>
              <a:buSzPts val="104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100"/>
              </a:spcBef>
              <a:spcAft>
                <a:spcPts val="0"/>
              </a:spcAft>
              <a:buSzPts val="104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102"/>
              </a:spcBef>
              <a:spcAft>
                <a:spcPts val="0"/>
              </a:spcAft>
              <a:buSzPts val="1058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102"/>
              </a:spcBef>
              <a:spcAft>
                <a:spcPts val="0"/>
              </a:spcAft>
              <a:buSzPts val="1058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102"/>
              </a:spcBef>
              <a:spcAft>
                <a:spcPts val="0"/>
              </a:spcAft>
              <a:buSzPts val="1058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102"/>
              </a:spcBef>
              <a:spcAft>
                <a:spcPts val="0"/>
              </a:spcAft>
              <a:buSzPts val="1058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18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8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8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5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0"/>
          <p:cNvSpPr txBox="1">
            <a:spLocks noGrp="1"/>
          </p:cNvSpPr>
          <p:nvPr>
            <p:ph type="body" idx="1"/>
          </p:nvPr>
        </p:nvSpPr>
        <p:spPr>
          <a:xfrm>
            <a:off x="1213857" y="4003828"/>
            <a:ext cx="5974958" cy="419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1411"/>
              <a:buFont typeface="Trebuchet MS"/>
              <a:buNone/>
              <a:defRPr sz="1764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360"/>
              <a:buFont typeface="Trebuchet MS"/>
              <a:buNone/>
              <a:defRPr/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1200"/>
              <a:buFont typeface="Trebuchet MS"/>
              <a:buNone/>
              <a:defRPr/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5pPr>
            <a:lvl6pPr marL="2743200" lvl="5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76" name="Google Shape;176;p20"/>
          <p:cNvSpPr txBox="1">
            <a:spLocks noGrp="1"/>
          </p:cNvSpPr>
          <p:nvPr>
            <p:ph type="body" idx="2"/>
          </p:nvPr>
        </p:nvSpPr>
        <p:spPr>
          <a:xfrm>
            <a:off x="672040" y="4927788"/>
            <a:ext cx="6997915" cy="1731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0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0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5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2"/>
          <p:cNvSpPr txBox="1">
            <a:spLocks noGrp="1"/>
          </p:cNvSpPr>
          <p:nvPr>
            <p:ph type="body" idx="1"/>
          </p:nvPr>
        </p:nvSpPr>
        <p:spPr>
          <a:xfrm>
            <a:off x="672038" y="4423810"/>
            <a:ext cx="6997916" cy="566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2117"/>
              <a:buFont typeface="Trebuchet MS"/>
              <a:buNone/>
              <a:defRPr sz="2646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360"/>
              <a:buFont typeface="Trebuchet MS"/>
              <a:buNone/>
              <a:defRPr/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1200"/>
              <a:buFont typeface="Trebuchet MS"/>
              <a:buNone/>
              <a:defRPr/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5pPr>
            <a:lvl6pPr marL="2743200" lvl="5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02" name="Google Shape;202;p22"/>
          <p:cNvSpPr txBox="1">
            <a:spLocks noGrp="1"/>
          </p:cNvSpPr>
          <p:nvPr>
            <p:ph type="body" idx="2"/>
          </p:nvPr>
        </p:nvSpPr>
        <p:spPr>
          <a:xfrm>
            <a:off x="672040" y="4990673"/>
            <a:ext cx="6997915" cy="1668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22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2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2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3"/>
          <p:cNvGrpSpPr/>
          <p:nvPr/>
        </p:nvGrpSpPr>
        <p:grpSpPr>
          <a:xfrm>
            <a:off x="-9525" y="-9525"/>
            <a:ext cx="10110787" cy="7578725"/>
            <a:chOff x="-8467" y="-8468"/>
            <a:chExt cx="9171317" cy="6874935"/>
          </a:xfrm>
        </p:grpSpPr>
        <p:sp>
          <p:nvSpPr>
            <p:cNvPr id="34" name="Google Shape;34;p3"/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 extrusionOk="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35" name="Google Shape;35;p3"/>
            <p:cNvCxnSpPr/>
            <p:nvPr/>
          </p:nvCxnSpPr>
          <p:spPr>
            <a:xfrm rot="10800000" flipH="1">
              <a:off x="5130869" y="4174961"/>
              <a:ext cx="4021900" cy="2682866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3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7043180" y="172"/>
              <a:ext cx="1218234" cy="6857654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3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37" name="Google Shape;37;p3"/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 extrusionOk="0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 extrusionOk="0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 extrusionOk="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 extrusionOk="0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 extrusionOk="0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 extrusionOk="0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1568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 extrusionOk="0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44" name="Google Shape;44;p3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3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512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►"/>
              <a:defRPr sz="19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1496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►"/>
              <a:defRPr sz="17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0480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  <a:defRPr sz="15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6" name="Google Shape;46;p3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-9525" y="-9525"/>
            <a:ext cx="10110787" cy="7578725"/>
            <a:chOff x="-8467" y="-8468"/>
            <a:chExt cx="9171317" cy="6874935"/>
          </a:xfrm>
        </p:grpSpPr>
        <p:sp>
          <p:nvSpPr>
            <p:cNvPr id="11" name="Google Shape;11;p1"/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 extrusionOk="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2" name="Google Shape;12;p1"/>
            <p:cNvCxnSpPr/>
            <p:nvPr/>
          </p:nvCxnSpPr>
          <p:spPr>
            <a:xfrm rot="10800000" flipH="1">
              <a:off x="5130869" y="4174961"/>
              <a:ext cx="4021900" cy="2682866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3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" name="Google Shape;13;p1"/>
            <p:cNvCxnSpPr/>
            <p:nvPr/>
          </p:nvCxnSpPr>
          <p:spPr>
            <a:xfrm>
              <a:off x="7043180" y="172"/>
              <a:ext cx="1218234" cy="6857654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3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4" name="Google Shape;14;p1"/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 extrusionOk="0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 extrusionOk="0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 extrusionOk="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 extrusionOk="0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 extrusionOk="0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 extrusionOk="0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1568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 extrusionOk="0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21" name="Google Shape;21;p1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512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►"/>
              <a:defRPr sz="19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1496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►"/>
              <a:defRPr sz="17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0480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  <a:defRPr sz="15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3" name="Google Shape;23;p1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4" name="Google Shape;24;p1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5" name="Google Shape;25;p1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7"/>
          <p:cNvGrpSpPr/>
          <p:nvPr/>
        </p:nvGrpSpPr>
        <p:grpSpPr>
          <a:xfrm>
            <a:off x="-9525" y="-9525"/>
            <a:ext cx="10110787" cy="7578725"/>
            <a:chOff x="-8466" y="-8468"/>
            <a:chExt cx="9171316" cy="6874935"/>
          </a:xfrm>
        </p:grpSpPr>
        <p:cxnSp>
          <p:nvCxnSpPr>
            <p:cNvPr id="133" name="Google Shape;133;p17"/>
            <p:cNvCxnSpPr/>
            <p:nvPr/>
          </p:nvCxnSpPr>
          <p:spPr>
            <a:xfrm rot="10800000" flipH="1">
              <a:off x="5130870" y="4174961"/>
              <a:ext cx="4021900" cy="2682866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3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4" name="Google Shape;134;p17"/>
            <p:cNvCxnSpPr/>
            <p:nvPr/>
          </p:nvCxnSpPr>
          <p:spPr>
            <a:xfrm>
              <a:off x="7043180" y="172"/>
              <a:ext cx="1218234" cy="6857654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3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35" name="Google Shape;135;p17"/>
            <p:cNvSpPr/>
            <p:nvPr/>
          </p:nvSpPr>
          <p:spPr>
            <a:xfrm>
              <a:off x="6891981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 extrusionOk="0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 extrusionOk="0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6638542" y="3920066"/>
              <a:ext cx="2512788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 extrusionOk="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 extrusionOk="0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 extrusionOk="0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 extrusionOk="0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1568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1" name="Google Shape;141;p17"/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 extrusionOk="0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2" name="Google Shape;142;p17"/>
            <p:cNvSpPr/>
            <p:nvPr/>
          </p:nvSpPr>
          <p:spPr>
            <a:xfrm>
              <a:off x="-8466" y="-8468"/>
              <a:ext cx="863996" cy="5698391"/>
            </a:xfrm>
            <a:custGeom>
              <a:avLst/>
              <a:gdLst/>
              <a:ahLst/>
              <a:cxnLst/>
              <a:rect l="l" t="t" r="r" b="b"/>
              <a:pathLst>
                <a:path w="863600" h="5698067" extrusionOk="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43" name="Google Shape;143;p17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17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512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►"/>
              <a:defRPr sz="19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1496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►"/>
              <a:defRPr sz="17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0480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  <a:defRPr sz="15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45" name="Google Shape;145;p17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46" name="Google Shape;146;p17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47" name="Google Shape;147;p17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9"/>
          <p:cNvGrpSpPr/>
          <p:nvPr/>
        </p:nvGrpSpPr>
        <p:grpSpPr>
          <a:xfrm>
            <a:off x="-9525" y="-9525"/>
            <a:ext cx="10110787" cy="7578725"/>
            <a:chOff x="-8467" y="-8468"/>
            <a:chExt cx="9171317" cy="6874935"/>
          </a:xfrm>
        </p:grpSpPr>
        <p:sp>
          <p:nvSpPr>
            <p:cNvPr id="156" name="Google Shape;156;p19"/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 extrusionOk="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57" name="Google Shape;157;p19"/>
            <p:cNvCxnSpPr/>
            <p:nvPr/>
          </p:nvCxnSpPr>
          <p:spPr>
            <a:xfrm rot="10800000" flipH="1">
              <a:off x="5130869" y="4174961"/>
              <a:ext cx="4021900" cy="2682866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3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58" name="Google Shape;158;p19"/>
            <p:cNvCxnSpPr/>
            <p:nvPr/>
          </p:nvCxnSpPr>
          <p:spPr>
            <a:xfrm>
              <a:off x="7043180" y="172"/>
              <a:ext cx="1218234" cy="6857654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3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59" name="Google Shape;159;p19"/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 extrusionOk="0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0" name="Google Shape;160;p19"/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 extrusionOk="0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1" name="Google Shape;161;p19"/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 extrusionOk="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 extrusionOk="0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3" name="Google Shape;163;p19"/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 extrusionOk="0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 extrusionOk="0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1568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5" name="Google Shape;165;p19"/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 extrusionOk="0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66" name="Google Shape;166;p19"/>
          <p:cNvSpPr txBox="1"/>
          <p:nvPr/>
        </p:nvSpPr>
        <p:spPr>
          <a:xfrm>
            <a:off x="531812" y="871537"/>
            <a:ext cx="504825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E0F5"/>
              </a:buClr>
              <a:buSzPts val="8800"/>
              <a:buFont typeface="Arial"/>
              <a:buNone/>
            </a:pPr>
            <a:r>
              <a:rPr lang="en-US" sz="8800" b="0" i="0" u="none">
                <a:solidFill>
                  <a:srgbClr val="9FE0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7439025" y="3181350"/>
            <a:ext cx="50323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E0F5"/>
              </a:buClr>
              <a:buSzPts val="8800"/>
              <a:buFont typeface="Arial"/>
              <a:buNone/>
            </a:pPr>
            <a:r>
              <a:rPr lang="en-US" sz="8800" b="0" i="0" u="none">
                <a:solidFill>
                  <a:srgbClr val="9FE0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68" name="Google Shape;168;p19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512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►"/>
              <a:defRPr sz="19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1496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►"/>
              <a:defRPr sz="17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0480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  <a:defRPr sz="15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21"/>
          <p:cNvGrpSpPr/>
          <p:nvPr/>
        </p:nvGrpSpPr>
        <p:grpSpPr>
          <a:xfrm>
            <a:off x="-9525" y="-9525"/>
            <a:ext cx="10110787" cy="7578725"/>
            <a:chOff x="-8467" y="-8468"/>
            <a:chExt cx="9171317" cy="6874935"/>
          </a:xfrm>
        </p:grpSpPr>
        <p:sp>
          <p:nvSpPr>
            <p:cNvPr id="182" name="Google Shape;182;p21"/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 extrusionOk="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83" name="Google Shape;183;p21"/>
            <p:cNvCxnSpPr/>
            <p:nvPr/>
          </p:nvCxnSpPr>
          <p:spPr>
            <a:xfrm rot="10800000" flipH="1">
              <a:off x="5130869" y="4174961"/>
              <a:ext cx="4021900" cy="2682866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3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84" name="Google Shape;184;p21"/>
            <p:cNvCxnSpPr/>
            <p:nvPr/>
          </p:nvCxnSpPr>
          <p:spPr>
            <a:xfrm>
              <a:off x="7043180" y="172"/>
              <a:ext cx="1218234" cy="6857654"/>
            </a:xfrm>
            <a:prstGeom prst="straightConnector1">
              <a:avLst/>
            </a:prstGeom>
            <a:noFill/>
            <a:ln w="9525" cap="rnd" cmpd="sng">
              <a:solidFill>
                <a:schemeClr val="accent1">
                  <a:alpha val="69803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85" name="Google Shape;185;p21"/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 extrusionOk="0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6" name="Google Shape;186;p21"/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 extrusionOk="0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0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7" name="Google Shape;187;p21"/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 extrusionOk="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 extrusionOk="0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9" name="Google Shape;189;p21"/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 extrusionOk="0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0" name="Google Shape;190;p21"/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 extrusionOk="0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1568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1" name="Google Shape;191;p21"/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 extrusionOk="0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92" name="Google Shape;192;p21"/>
          <p:cNvSpPr txBox="1"/>
          <p:nvPr/>
        </p:nvSpPr>
        <p:spPr>
          <a:xfrm>
            <a:off x="531812" y="871537"/>
            <a:ext cx="504825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E0F5"/>
              </a:buClr>
              <a:buSzPts val="8800"/>
              <a:buFont typeface="Arial"/>
              <a:buNone/>
            </a:pPr>
            <a:r>
              <a:rPr lang="en-US" sz="8800" b="0" i="0" u="none">
                <a:solidFill>
                  <a:srgbClr val="9FE0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7439025" y="3181350"/>
            <a:ext cx="503237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E0F5"/>
              </a:buClr>
              <a:buSzPts val="8800"/>
              <a:buFont typeface="Arial"/>
              <a:buNone/>
            </a:pPr>
            <a:r>
              <a:rPr lang="en-US" sz="8800" b="0" i="0" u="none">
                <a:solidFill>
                  <a:srgbClr val="9FE0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94" name="Google Shape;194;p21"/>
          <p:cNvSpPr txBox="1">
            <a:spLocks noGrp="1"/>
          </p:cNvSpPr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21"/>
          <p:cNvSpPr txBox="1">
            <a:spLocks noGrp="1"/>
          </p:cNvSpPr>
          <p:nvPr>
            <p:ph type="body" idx="1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512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►"/>
              <a:defRPr sz="19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1496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►"/>
              <a:defRPr sz="17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04800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  <a:defRPr sz="15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94639" algn="l" rtl="0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sz="13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95808" algn="l" rtl="0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sz="1323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96" name="Google Shape;196;p21"/>
          <p:cNvSpPr txBox="1">
            <a:spLocks noGrp="1"/>
          </p:cNvSpPr>
          <p:nvPr>
            <p:ph type="dt" idx="10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97" name="Google Shape;197;p21"/>
          <p:cNvSpPr txBox="1">
            <a:spLocks noGrp="1"/>
          </p:cNvSpPr>
          <p:nvPr>
            <p:ph type="ftr" idx="11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98" name="Google Shape;198;p21"/>
          <p:cNvSpPr txBox="1">
            <a:spLocks noGrp="1"/>
          </p:cNvSpPr>
          <p:nvPr>
            <p:ph type="sldNum" idx="12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sz="900" b="0" i="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/>
        </p:nvSpPr>
        <p:spPr>
          <a:xfrm>
            <a:off x="201479" y="1768475"/>
            <a:ext cx="9655444" cy="546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InterviewIQ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AI mock interview using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SpeechRecognition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GPT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dirty="0"/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Arya Patil              22107047</a:t>
            </a: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Nisha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Patel            22107037</a:t>
            </a: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Prachi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Pawar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       22107018</a:t>
            </a: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Renuka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 err="1">
                <a:latin typeface="Times New Roman"/>
                <a:ea typeface="Times New Roman"/>
                <a:cs typeface="Times New Roman"/>
                <a:sym typeface="Times New Roman"/>
              </a:rPr>
              <a:t>Udugade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 22107048</a:t>
            </a: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endParaRPr sz="2400" b="1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lang="en-US" sz="28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Guide</a:t>
            </a:r>
            <a:endParaRPr lang="en-US" dirty="0">
              <a:ea typeface="Times New Roman"/>
            </a:endParaRPr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lang="en-US" sz="24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Poonam Pangarkar</a:t>
            </a:r>
            <a:endParaRPr dirty="0"/>
          </a:p>
        </p:txBody>
      </p:sp>
      <p:cxnSp>
        <p:nvCxnSpPr>
          <p:cNvPr id="219" name="Google Shape;219;p24"/>
          <p:cNvCxnSpPr/>
          <p:nvPr/>
        </p:nvCxnSpPr>
        <p:spPr>
          <a:xfrm>
            <a:off x="0" y="1743075"/>
            <a:ext cx="10080625" cy="0"/>
          </a:xfrm>
          <a:prstGeom prst="straightConnector1">
            <a:avLst/>
          </a:prstGeom>
          <a:noFill/>
          <a:ln w="25400" cap="rnd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63500" dist="25400" dir="5400000">
              <a:srgbClr val="000000">
                <a:alpha val="34901"/>
              </a:srgbClr>
            </a:outerShdw>
          </a:effectLst>
        </p:spPr>
      </p:cxnSp>
      <p:pic>
        <p:nvPicPr>
          <p:cNvPr id="220" name="Google Shape;22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9500" y="130008"/>
            <a:ext cx="7686675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 txBox="1"/>
          <p:nvPr/>
        </p:nvSpPr>
        <p:spPr>
          <a:xfrm>
            <a:off x="504825" y="144462"/>
            <a:ext cx="9070975" cy="1057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dirty="0"/>
          </a:p>
        </p:txBody>
      </p:sp>
      <p:sp>
        <p:nvSpPr>
          <p:cNvPr id="227" name="Google Shape;227;p25"/>
          <p:cNvSpPr txBox="1"/>
          <p:nvPr/>
        </p:nvSpPr>
        <p:spPr>
          <a:xfrm>
            <a:off x="504825" y="1236662"/>
            <a:ext cx="9323387" cy="557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25" rIns="0" bIns="0" anchor="t" anchorCtr="0">
            <a:noAutofit/>
          </a:bodyPr>
          <a:lstStyle/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0" i="0" u="none" dirty="0">
                <a:solidFill>
                  <a:schemeClr val="dk1"/>
                </a:solidFill>
                <a:latin typeface="Times New Roman" panose="02020603050405020304" pitchFamily="18" charset="0"/>
                <a:ea typeface="Trebuchet MS"/>
                <a:cs typeface="Times New Roman" panose="02020603050405020304" pitchFamily="18" charset="0"/>
                <a:sym typeface="Trebuchet MS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0" i="0" u="none" dirty="0">
                <a:solidFill>
                  <a:schemeClr val="dk1"/>
                </a:solidFill>
                <a:latin typeface="Times New Roman" panose="02020603050405020304" pitchFamily="18" charset="0"/>
                <a:ea typeface="Trebuchet MS"/>
                <a:cs typeface="Times New Roman" panose="02020603050405020304" pitchFamily="18" charset="0"/>
                <a:sym typeface="Trebuchet MS"/>
              </a:rPr>
              <a:t>Literature Survey of the existing systems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0" i="0" u="none" dirty="0">
                <a:solidFill>
                  <a:schemeClr val="dk1"/>
                </a:solidFill>
                <a:latin typeface="Times New Roman" panose="02020603050405020304" pitchFamily="18" charset="0"/>
                <a:ea typeface="Trebuchet MS"/>
                <a:cs typeface="Times New Roman" panose="02020603050405020304" pitchFamily="18" charset="0"/>
                <a:sym typeface="Trebuchet MS"/>
              </a:rPr>
              <a:t>Limitations of the existing systems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0" i="0" u="none" dirty="0">
                <a:solidFill>
                  <a:schemeClr val="dk1"/>
                </a:solidFill>
                <a:latin typeface="Times New Roman" panose="02020603050405020304" pitchFamily="18" charset="0"/>
                <a:ea typeface="Trebuchet MS"/>
                <a:cs typeface="Times New Roman" panose="02020603050405020304" pitchFamily="18" charset="0"/>
                <a:sym typeface="Trebuchet MS"/>
              </a:rPr>
              <a:t>Problem statement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0" i="0" u="none" dirty="0">
                <a:solidFill>
                  <a:schemeClr val="dk1"/>
                </a:solidFill>
                <a:latin typeface="Times New Roman" panose="02020603050405020304" pitchFamily="18" charset="0"/>
                <a:ea typeface="Trebuchet MS"/>
                <a:cs typeface="Times New Roman" panose="02020603050405020304" pitchFamily="18" charset="0"/>
                <a:sym typeface="Trebuchet MS"/>
              </a:rPr>
              <a:t>System Design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0" i="0" u="none" dirty="0">
                <a:solidFill>
                  <a:schemeClr val="dk1"/>
                </a:solidFill>
                <a:latin typeface="Times New Roman" panose="02020603050405020304" pitchFamily="18" charset="0"/>
                <a:ea typeface="Trebuchet MS"/>
                <a:cs typeface="Times New Roman" panose="02020603050405020304" pitchFamily="18" charset="0"/>
                <a:sym typeface="Trebuchet MS"/>
              </a:rPr>
              <a:t>Technologies and methodologies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0" i="0" u="none" dirty="0">
                <a:solidFill>
                  <a:schemeClr val="dk1"/>
                </a:solidFill>
                <a:latin typeface="Times New Roman" panose="02020603050405020304" pitchFamily="18" charset="0"/>
                <a:ea typeface="Trebuchet MS"/>
                <a:cs typeface="Times New Roman" panose="02020603050405020304" pitchFamily="18" charset="0"/>
                <a:sym typeface="Trebuchet MS"/>
              </a:rPr>
              <a:t>Implementation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0" i="0" u="none" dirty="0">
                <a:solidFill>
                  <a:schemeClr val="dk1"/>
                </a:solidFill>
                <a:latin typeface="Times New Roman" panose="02020603050405020304" pitchFamily="18" charset="0"/>
                <a:ea typeface="Trebuchet MS"/>
                <a:cs typeface="Times New Roman" panose="02020603050405020304" pitchFamily="18" charset="0"/>
                <a:sym typeface="Trebuchet MS"/>
              </a:rPr>
              <a:t>Conclusion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0212" marR="0" lvl="0" indent="-322262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0" i="0" u="none" dirty="0">
                <a:solidFill>
                  <a:schemeClr val="dk1"/>
                </a:solidFill>
                <a:latin typeface="Times New Roman" panose="02020603050405020304" pitchFamily="18" charset="0"/>
                <a:ea typeface="Trebuchet MS"/>
                <a:cs typeface="Times New Roman" panose="02020603050405020304" pitchFamily="18" charset="0"/>
                <a:sym typeface="Trebuchet MS"/>
              </a:rPr>
              <a:t>References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/>
        </p:nvSpPr>
        <p:spPr>
          <a:xfrm>
            <a:off x="504762" y="-34673"/>
            <a:ext cx="9071100" cy="86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/>
          </a:p>
        </p:txBody>
      </p:sp>
      <p:sp>
        <p:nvSpPr>
          <p:cNvPr id="234" name="Google Shape;234;p26"/>
          <p:cNvSpPr txBox="1"/>
          <p:nvPr/>
        </p:nvSpPr>
        <p:spPr>
          <a:xfrm>
            <a:off x="751570" y="830350"/>
            <a:ext cx="9071100" cy="3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modern job market is highly competitive, and interviews are a crucial step in the hiring process.</a:t>
            </a:r>
          </a:p>
          <a:p>
            <a:pPr marL="342900" lvl="0" indent="-34290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interview preparation methods can be time-consuming, expensive, and often lack personalized feedback.</a:t>
            </a:r>
          </a:p>
          <a:p>
            <a:pPr marL="342900" lvl="0" indent="-34290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InterviewIQ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an Al-powered interview simulation platform designed to help candidates ace their interviews.</a:t>
            </a:r>
          </a:p>
          <a:p>
            <a:pPr marL="342900" lvl="0" indent="-34290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Leverages cutting-edge Al to provide realistic interview experiences and personalized feedback.</a:t>
            </a:r>
          </a:p>
          <a:p>
            <a:pPr marL="342900" lvl="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233;p26"/>
          <p:cNvSpPr txBox="1"/>
          <p:nvPr/>
        </p:nvSpPr>
        <p:spPr>
          <a:xfrm>
            <a:off x="504762" y="4731090"/>
            <a:ext cx="9071100" cy="86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Motiva</a:t>
            </a:r>
            <a:r>
              <a:rPr lang="en-US" sz="3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tion</a:t>
            </a:r>
            <a:endParaRPr dirty="0"/>
          </a:p>
        </p:txBody>
      </p:sp>
      <p:sp>
        <p:nvSpPr>
          <p:cNvPr id="6" name="Google Shape;234;p26"/>
          <p:cNvSpPr txBox="1"/>
          <p:nvPr/>
        </p:nvSpPr>
        <p:spPr>
          <a:xfrm>
            <a:off x="751570" y="5596113"/>
            <a:ext cx="9071100" cy="196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58800" indent="-457200">
              <a:lnSpc>
                <a:spcPct val="12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bridge the gap between candidates skills and interview performance. </a:t>
            </a:r>
          </a:p>
          <a:p>
            <a:pPr marL="558800" indent="-457200">
              <a:lnSpc>
                <a:spcPct val="12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interview anxiety and build self-assurance.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/>
        </p:nvSpPr>
        <p:spPr>
          <a:xfrm>
            <a:off x="504762" y="-34673"/>
            <a:ext cx="9071100" cy="86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dirty="0"/>
          </a:p>
        </p:txBody>
      </p:sp>
      <p:sp>
        <p:nvSpPr>
          <p:cNvPr id="234" name="Google Shape;234;p26"/>
          <p:cNvSpPr txBox="1"/>
          <p:nvPr/>
        </p:nvSpPr>
        <p:spPr>
          <a:xfrm>
            <a:off x="751570" y="830350"/>
            <a:ext cx="9071100" cy="3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58800" lvl="0" indent="-457200">
              <a:lnSpc>
                <a:spcPct val="12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safeguard user data with advanced authentication systems using Clerk Authentication</a:t>
            </a:r>
          </a:p>
          <a:p>
            <a:pPr marL="558800" lvl="0" indent="-457200">
              <a:lnSpc>
                <a:spcPct val="12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generate personalized interview questions to align with job descriptions and skill requirements from AI using Google Gemini.</a:t>
            </a:r>
          </a:p>
          <a:p>
            <a:pPr marL="558800" lvl="0" indent="-457200">
              <a:lnSpc>
                <a:spcPct val="12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AI-driven insights on mock interview responses with secure storage and review using Google Gemini, PostgreSQL (Neon), and Drizzle.</a:t>
            </a:r>
          </a:p>
          <a:p>
            <a:pPr marL="558800" lvl="0" indent="-457200">
              <a:lnSpc>
                <a:spcPct val="12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facilitate role-skill mapping through an interactive interface powered by structured skill-role mappings.</a:t>
            </a:r>
          </a:p>
          <a:p>
            <a:pPr marL="342900" lvl="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498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/>
        </p:nvSpPr>
        <p:spPr>
          <a:xfrm>
            <a:off x="504762" y="79046"/>
            <a:ext cx="9071100" cy="86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lvl="0">
              <a:lnSpc>
                <a:spcPct val="93000"/>
              </a:lnSpc>
              <a:buSzPts val="3600"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 of the existing system</a:t>
            </a:r>
          </a:p>
        </p:txBody>
      </p:sp>
      <p:sp>
        <p:nvSpPr>
          <p:cNvPr id="234" name="Google Shape;234;p26"/>
          <p:cNvSpPr txBox="1"/>
          <p:nvPr/>
        </p:nvSpPr>
        <p:spPr>
          <a:xfrm>
            <a:off x="751570" y="830350"/>
            <a:ext cx="9071100" cy="3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0F0174-0F96-0D79-8619-47A500C9D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790984"/>
              </p:ext>
            </p:extLst>
          </p:nvPr>
        </p:nvGraphicFramePr>
        <p:xfrm>
          <a:off x="204439" y="1057788"/>
          <a:ext cx="9618231" cy="526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25">
                  <a:extLst>
                    <a:ext uri="{9D8B030D-6E8A-4147-A177-3AD203B41FA5}">
                      <a16:colId xmlns:a16="http://schemas.microsoft.com/office/drawing/2014/main" val="1378522680"/>
                    </a:ext>
                  </a:extLst>
                </a:gridCol>
                <a:gridCol w="1692577">
                  <a:extLst>
                    <a:ext uri="{9D8B030D-6E8A-4147-A177-3AD203B41FA5}">
                      <a16:colId xmlns:a16="http://schemas.microsoft.com/office/drawing/2014/main" val="1600065159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2218096028"/>
                    </a:ext>
                  </a:extLst>
                </a:gridCol>
                <a:gridCol w="887624">
                  <a:extLst>
                    <a:ext uri="{9D8B030D-6E8A-4147-A177-3AD203B41FA5}">
                      <a16:colId xmlns:a16="http://schemas.microsoft.com/office/drawing/2014/main" val="57991663"/>
                    </a:ext>
                  </a:extLst>
                </a:gridCol>
                <a:gridCol w="1592317">
                  <a:extLst>
                    <a:ext uri="{9D8B030D-6E8A-4147-A177-3AD203B41FA5}">
                      <a16:colId xmlns:a16="http://schemas.microsoft.com/office/drawing/2014/main" val="1536129767"/>
                    </a:ext>
                  </a:extLst>
                </a:gridCol>
                <a:gridCol w="1481959">
                  <a:extLst>
                    <a:ext uri="{9D8B030D-6E8A-4147-A177-3AD203B41FA5}">
                      <a16:colId xmlns:a16="http://schemas.microsoft.com/office/drawing/2014/main" val="908098600"/>
                    </a:ext>
                  </a:extLst>
                </a:gridCol>
                <a:gridCol w="1970695">
                  <a:extLst>
                    <a:ext uri="{9D8B030D-6E8A-4147-A177-3AD203B41FA5}">
                      <a16:colId xmlns:a16="http://schemas.microsoft.com/office/drawing/2014/main" val="3656742697"/>
                    </a:ext>
                  </a:extLst>
                </a:gridCol>
              </a:tblGrid>
              <a:tr h="76788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</a:t>
                      </a:r>
                    </a:p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307664"/>
                  </a:ext>
                </a:extLst>
              </a:tr>
              <a:tr h="449763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 </a:t>
                      </a:r>
                    </a:p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AI Mock-interview Platform for Interview Performance Analysis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Yi-Chi Chou </a:t>
                      </a:r>
                    </a:p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Chun-Yen Chao</a:t>
                      </a:r>
                    </a:p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Han-Yen Yu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This system requires user to type the answers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Speech-to-text 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our system, the user don’t have to type the answers which is time-consuming. In fact, the user will give verbal answers which will be converted into text.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723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6796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/>
        </p:nvSpPr>
        <p:spPr>
          <a:xfrm>
            <a:off x="531520" y="58316"/>
            <a:ext cx="9071100" cy="86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lvl="0">
              <a:lnSpc>
                <a:spcPct val="93000"/>
              </a:lnSpc>
              <a:buSzPts val="3600"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 of the existing system</a:t>
            </a:r>
          </a:p>
        </p:txBody>
      </p:sp>
      <p:sp>
        <p:nvSpPr>
          <p:cNvPr id="234" name="Google Shape;234;p26"/>
          <p:cNvSpPr txBox="1"/>
          <p:nvPr/>
        </p:nvSpPr>
        <p:spPr>
          <a:xfrm>
            <a:off x="751570" y="830350"/>
            <a:ext cx="9071100" cy="3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ctr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ctr">
              <a:lnSpc>
                <a:spcPct val="110000"/>
              </a:lnSpc>
              <a:buFont typeface="Arial" panose="020B0604020202020204" pitchFamily="34" charset="0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0F0174-0F96-0D79-8619-47A500C9D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018407"/>
              </p:ext>
            </p:extLst>
          </p:nvPr>
        </p:nvGraphicFramePr>
        <p:xfrm>
          <a:off x="257955" y="1016329"/>
          <a:ext cx="9618231" cy="46870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25">
                  <a:extLst>
                    <a:ext uri="{9D8B030D-6E8A-4147-A177-3AD203B41FA5}">
                      <a16:colId xmlns:a16="http://schemas.microsoft.com/office/drawing/2014/main" val="1378522680"/>
                    </a:ext>
                  </a:extLst>
                </a:gridCol>
                <a:gridCol w="1708075">
                  <a:extLst>
                    <a:ext uri="{9D8B030D-6E8A-4147-A177-3AD203B41FA5}">
                      <a16:colId xmlns:a16="http://schemas.microsoft.com/office/drawing/2014/main" val="1600065159"/>
                    </a:ext>
                  </a:extLst>
                </a:gridCol>
                <a:gridCol w="1472339">
                  <a:extLst>
                    <a:ext uri="{9D8B030D-6E8A-4147-A177-3AD203B41FA5}">
                      <a16:colId xmlns:a16="http://schemas.microsoft.com/office/drawing/2014/main" val="2218096028"/>
                    </a:ext>
                  </a:extLst>
                </a:gridCol>
                <a:gridCol w="743919">
                  <a:extLst>
                    <a:ext uri="{9D8B030D-6E8A-4147-A177-3AD203B41FA5}">
                      <a16:colId xmlns:a16="http://schemas.microsoft.com/office/drawing/2014/main" val="57991663"/>
                    </a:ext>
                  </a:extLst>
                </a:gridCol>
                <a:gridCol w="1767019">
                  <a:extLst>
                    <a:ext uri="{9D8B030D-6E8A-4147-A177-3AD203B41FA5}">
                      <a16:colId xmlns:a16="http://schemas.microsoft.com/office/drawing/2014/main" val="1536129767"/>
                    </a:ext>
                  </a:extLst>
                </a:gridCol>
                <a:gridCol w="1481959">
                  <a:extLst>
                    <a:ext uri="{9D8B030D-6E8A-4147-A177-3AD203B41FA5}">
                      <a16:colId xmlns:a16="http://schemas.microsoft.com/office/drawing/2014/main" val="908098600"/>
                    </a:ext>
                  </a:extLst>
                </a:gridCol>
                <a:gridCol w="1970695">
                  <a:extLst>
                    <a:ext uri="{9D8B030D-6E8A-4147-A177-3AD203B41FA5}">
                      <a16:colId xmlns:a16="http://schemas.microsoft.com/office/drawing/2014/main" val="3656742697"/>
                    </a:ext>
                  </a:extLst>
                </a:gridCol>
              </a:tblGrid>
              <a:tr h="68352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</a:t>
                      </a:r>
                    </a:p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307664"/>
                  </a:ext>
                </a:extLst>
              </a:tr>
              <a:tr h="40035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</a:p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-Based mock interview evaluator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Rubi Mandal</a:t>
                      </a:r>
                    </a:p>
                    <a:p>
                      <a:pPr algn="ctr"/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Pranav 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Lohar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Dhiraj Patil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Doesn’t provide feedback along with answers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Comparing user’s answers with answer stored in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system provides correct answers so that the user gets to know where he/she went wrong.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723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6519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/>
        </p:nvSpPr>
        <p:spPr>
          <a:xfrm>
            <a:off x="531520" y="-5847"/>
            <a:ext cx="9071100" cy="86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lvl="0">
              <a:lnSpc>
                <a:spcPct val="93000"/>
              </a:lnSpc>
              <a:buSzPts val="3600"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 of the existing system</a:t>
            </a:r>
          </a:p>
        </p:txBody>
      </p:sp>
      <p:sp>
        <p:nvSpPr>
          <p:cNvPr id="234" name="Google Shape;234;p26"/>
          <p:cNvSpPr txBox="1"/>
          <p:nvPr/>
        </p:nvSpPr>
        <p:spPr>
          <a:xfrm>
            <a:off x="751570" y="830350"/>
            <a:ext cx="9071100" cy="3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ctr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ctr">
              <a:lnSpc>
                <a:spcPct val="110000"/>
              </a:lnSpc>
              <a:buFont typeface="Arial" panose="020B0604020202020204" pitchFamily="34" charset="0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0F0174-0F96-0D79-8619-47A500C9D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320550"/>
              </p:ext>
            </p:extLst>
          </p:nvPr>
        </p:nvGraphicFramePr>
        <p:xfrm>
          <a:off x="298285" y="1026792"/>
          <a:ext cx="9618231" cy="4764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25">
                  <a:extLst>
                    <a:ext uri="{9D8B030D-6E8A-4147-A177-3AD203B41FA5}">
                      <a16:colId xmlns:a16="http://schemas.microsoft.com/office/drawing/2014/main" val="1378522680"/>
                    </a:ext>
                  </a:extLst>
                </a:gridCol>
                <a:gridCol w="1844566">
                  <a:extLst>
                    <a:ext uri="{9D8B030D-6E8A-4147-A177-3AD203B41FA5}">
                      <a16:colId xmlns:a16="http://schemas.microsoft.com/office/drawing/2014/main" val="1600065159"/>
                    </a:ext>
                  </a:extLst>
                </a:gridCol>
                <a:gridCol w="1481958">
                  <a:extLst>
                    <a:ext uri="{9D8B030D-6E8A-4147-A177-3AD203B41FA5}">
                      <a16:colId xmlns:a16="http://schemas.microsoft.com/office/drawing/2014/main" val="2218096028"/>
                    </a:ext>
                  </a:extLst>
                </a:gridCol>
                <a:gridCol w="772511">
                  <a:extLst>
                    <a:ext uri="{9D8B030D-6E8A-4147-A177-3AD203B41FA5}">
                      <a16:colId xmlns:a16="http://schemas.microsoft.com/office/drawing/2014/main" val="57991663"/>
                    </a:ext>
                  </a:extLst>
                </a:gridCol>
                <a:gridCol w="1592317">
                  <a:extLst>
                    <a:ext uri="{9D8B030D-6E8A-4147-A177-3AD203B41FA5}">
                      <a16:colId xmlns:a16="http://schemas.microsoft.com/office/drawing/2014/main" val="1536129767"/>
                    </a:ext>
                  </a:extLst>
                </a:gridCol>
                <a:gridCol w="1481959">
                  <a:extLst>
                    <a:ext uri="{9D8B030D-6E8A-4147-A177-3AD203B41FA5}">
                      <a16:colId xmlns:a16="http://schemas.microsoft.com/office/drawing/2014/main" val="908098600"/>
                    </a:ext>
                  </a:extLst>
                </a:gridCol>
                <a:gridCol w="1970695">
                  <a:extLst>
                    <a:ext uri="{9D8B030D-6E8A-4147-A177-3AD203B41FA5}">
                      <a16:colId xmlns:a16="http://schemas.microsoft.com/office/drawing/2014/main" val="3656742697"/>
                    </a:ext>
                  </a:extLst>
                </a:gridCol>
              </a:tblGrid>
              <a:tr h="69480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</a:t>
                      </a:r>
                    </a:p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Outcomes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307664"/>
                  </a:ext>
                </a:extLst>
              </a:tr>
              <a:tr h="4069598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 </a:t>
                      </a:r>
                    </a:p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AI Mock-interview Platform for Interview Performance Analysis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Yi-Chi Chou </a:t>
                      </a:r>
                    </a:p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Chun-Yen Chao</a:t>
                      </a:r>
                    </a:p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Han-Yen Yu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Further research is needed to understand limitations, such as the accuracy of personality assessments, and the user experience.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platform uses a video interview format and analyzes various aspects of the candidate's performance.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Further research is needed to understand limitations, such as potential biases in AI analysis, the accuracy of personality assessments, and the user experience.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723451"/>
                  </a:ext>
                </a:extLst>
              </a:tr>
            </a:tbl>
          </a:graphicData>
        </a:graphic>
      </p:graphicFrame>
      <p:sp>
        <p:nvSpPr>
          <p:cNvPr id="5" name="Google Shape;260;p30"/>
          <p:cNvSpPr txBox="1"/>
          <p:nvPr/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25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0F0174-0F96-0D79-8619-47A500C9D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316794"/>
              </p:ext>
            </p:extLst>
          </p:nvPr>
        </p:nvGraphicFramePr>
        <p:xfrm>
          <a:off x="257955" y="1022568"/>
          <a:ext cx="9618231" cy="5078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25">
                  <a:extLst>
                    <a:ext uri="{9D8B030D-6E8A-4147-A177-3AD203B41FA5}">
                      <a16:colId xmlns:a16="http://schemas.microsoft.com/office/drawing/2014/main" val="1378522680"/>
                    </a:ext>
                  </a:extLst>
                </a:gridCol>
                <a:gridCol w="1598731">
                  <a:extLst>
                    <a:ext uri="{9D8B030D-6E8A-4147-A177-3AD203B41FA5}">
                      <a16:colId xmlns:a16="http://schemas.microsoft.com/office/drawing/2014/main" val="1600065159"/>
                    </a:ext>
                  </a:extLst>
                </a:gridCol>
                <a:gridCol w="1503335">
                  <a:extLst>
                    <a:ext uri="{9D8B030D-6E8A-4147-A177-3AD203B41FA5}">
                      <a16:colId xmlns:a16="http://schemas.microsoft.com/office/drawing/2014/main" val="2218096028"/>
                    </a:ext>
                  </a:extLst>
                </a:gridCol>
                <a:gridCol w="855079">
                  <a:extLst>
                    <a:ext uri="{9D8B030D-6E8A-4147-A177-3AD203B41FA5}">
                      <a16:colId xmlns:a16="http://schemas.microsoft.com/office/drawing/2014/main" val="57991663"/>
                    </a:ext>
                  </a:extLst>
                </a:gridCol>
                <a:gridCol w="1531660">
                  <a:extLst>
                    <a:ext uri="{9D8B030D-6E8A-4147-A177-3AD203B41FA5}">
                      <a16:colId xmlns:a16="http://schemas.microsoft.com/office/drawing/2014/main" val="1536129767"/>
                    </a:ext>
                  </a:extLst>
                </a:gridCol>
                <a:gridCol w="1684506">
                  <a:extLst>
                    <a:ext uri="{9D8B030D-6E8A-4147-A177-3AD203B41FA5}">
                      <a16:colId xmlns:a16="http://schemas.microsoft.com/office/drawing/2014/main" val="908098600"/>
                    </a:ext>
                  </a:extLst>
                </a:gridCol>
                <a:gridCol w="1970695">
                  <a:extLst>
                    <a:ext uri="{9D8B030D-6E8A-4147-A177-3AD203B41FA5}">
                      <a16:colId xmlns:a16="http://schemas.microsoft.com/office/drawing/2014/main" val="3656742697"/>
                    </a:ext>
                  </a:extLst>
                </a:gridCol>
              </a:tblGrid>
              <a:tr h="55062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</a:t>
                      </a:r>
                    </a:p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307664"/>
                  </a:ext>
                </a:extLst>
              </a:tr>
              <a:tr h="4438883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AI-Driven Virtual Mock Interview Development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Prabhat Kumar Mishra</a:t>
                      </a:r>
                    </a:p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Arun Kumar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Arulappan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Thanga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Mariappan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system does not save user’s previous mock interviews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 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system saves and retrieve user’s previous mock interviews from PostgreSQL Database.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723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089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/>
        </p:nvSpPr>
        <p:spPr>
          <a:xfrm>
            <a:off x="504762" y="-4220"/>
            <a:ext cx="9071100" cy="86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lvl="0">
              <a:lnSpc>
                <a:spcPct val="93000"/>
              </a:lnSpc>
              <a:buSzPts val="3600"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Limitations of  the existing system </a:t>
            </a:r>
            <a:endParaRPr dirty="0"/>
          </a:p>
        </p:txBody>
      </p:sp>
      <p:sp>
        <p:nvSpPr>
          <p:cNvPr id="234" name="Google Shape;234;p26"/>
          <p:cNvSpPr txBox="1"/>
          <p:nvPr/>
        </p:nvSpPr>
        <p:spPr>
          <a:xfrm>
            <a:off x="504762" y="860803"/>
            <a:ext cx="9317908" cy="6612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just">
              <a:lnSpc>
                <a:spcPct val="115000"/>
              </a:lnSpc>
              <a:spcBef>
                <a:spcPts val="1200"/>
              </a:spcBef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AI mock interview system offer significant benefits, they also have certain limitations:</a:t>
            </a:r>
          </a:p>
          <a:p>
            <a:pPr marL="444500" lvl="0" indent="-342900">
              <a:lnSpc>
                <a:spcPct val="12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mock interviews, like those with friends or career counselors, Can lack the pressure and realism of a real interview setting.</a:t>
            </a:r>
          </a:p>
          <a:p>
            <a:pPr marL="444500" lvl="0" indent="-342900">
              <a:lnSpc>
                <a:spcPct val="12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Scheduling mock interview with professionals or even friends can be time-consuming and inconvenient. This makes consistent practice difficult.</a:t>
            </a:r>
          </a:p>
          <a:p>
            <a:pPr marL="444500" lvl="0" indent="-342900">
              <a:lnSpc>
                <a:spcPct val="12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may offer a limited range of interview types and questions, not covering the full spectrum of potential interview scenarios.</a:t>
            </a:r>
          </a:p>
          <a:p>
            <a:pPr marL="558800" lvl="0" indent="-457200">
              <a:lnSpc>
                <a:spcPct val="12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800" lvl="0" indent="-457200">
              <a:lnSpc>
                <a:spcPct val="12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406983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/>
        </p:nvSpPr>
        <p:spPr>
          <a:xfrm>
            <a:off x="504762" y="-4220"/>
            <a:ext cx="9071100" cy="86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lvl="0">
              <a:lnSpc>
                <a:spcPct val="93000"/>
              </a:lnSpc>
              <a:buSzPts val="3600"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Problem statement </a:t>
            </a:r>
            <a:endParaRPr lang="en-US" sz="3600" dirty="0"/>
          </a:p>
        </p:txBody>
      </p:sp>
      <p:sp>
        <p:nvSpPr>
          <p:cNvPr id="234" name="Google Shape;234;p26"/>
          <p:cNvSpPr txBox="1"/>
          <p:nvPr/>
        </p:nvSpPr>
        <p:spPr>
          <a:xfrm>
            <a:off x="504762" y="860803"/>
            <a:ext cx="9317908" cy="6612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58800" lvl="0" indent="-457200">
              <a:lnSpc>
                <a:spcPct val="12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job seekers struggle to effectively prepare for behavioral interview questions, often giving generic or unstructured responses. This leads to poor interview performance and missed job opportunities.</a:t>
            </a:r>
          </a:p>
          <a:p>
            <a:pPr marL="558800" lvl="0" indent="-457200">
              <a:lnSpc>
                <a:spcPct val="12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AI-powered mock interview platform that provides real-time, personalized feedback, simulates real interview scenarios.</a:t>
            </a:r>
          </a:p>
          <a:p>
            <a:pPr marL="558800" lvl="0" indent="-457200">
              <a:lnSpc>
                <a:spcPct val="12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Identifies specific areas for improvement in communication, content, and delivery.</a:t>
            </a:r>
          </a:p>
          <a:p>
            <a:pPr marL="101600" lvl="0">
              <a:lnSpc>
                <a:spcPct val="120000"/>
              </a:lnSpc>
              <a:spcBef>
                <a:spcPts val="1200"/>
              </a:spcBef>
              <a:buSzPct val="100000"/>
            </a:pPr>
            <a:endParaRPr lang="en-US" sz="4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800" lvl="0" indent="-457200">
              <a:lnSpc>
                <a:spcPct val="12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192538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/>
        </p:nvSpPr>
        <p:spPr>
          <a:xfrm>
            <a:off x="504762" y="-4220"/>
            <a:ext cx="9071100" cy="86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lvl="0">
              <a:lnSpc>
                <a:spcPct val="93000"/>
              </a:lnSpc>
              <a:buSzPts val="3600"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8AEB4A-BC83-BFBA-CDFC-9914ECDCC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37" y="1341437"/>
            <a:ext cx="9658350" cy="48768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43685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/>
        </p:nvSpPr>
        <p:spPr>
          <a:xfrm>
            <a:off x="504762" y="-4220"/>
            <a:ext cx="9071100" cy="86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lvl="0">
              <a:lnSpc>
                <a:spcPct val="93000"/>
              </a:lnSpc>
              <a:buSzPts val="3600"/>
            </a:pPr>
            <a:r>
              <a:rPr lang="en-US" sz="3600" b="1" dirty="0">
                <a:latin typeface="Times New Roman"/>
                <a:cs typeface="Times New Roman"/>
                <a:sym typeface="Times New Roman"/>
              </a:rPr>
              <a:t>Technology and Methodologies</a:t>
            </a:r>
            <a:endParaRPr lang="en-US" sz="3600" dirty="0"/>
          </a:p>
        </p:txBody>
      </p:sp>
      <p:sp>
        <p:nvSpPr>
          <p:cNvPr id="234" name="Google Shape;234;p26"/>
          <p:cNvSpPr txBox="1"/>
          <p:nvPr/>
        </p:nvSpPr>
        <p:spPr>
          <a:xfrm>
            <a:off x="504762" y="860803"/>
            <a:ext cx="9317908" cy="6612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44500" lvl="0" indent="-342900">
              <a:lnSpc>
                <a:spcPct val="11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  </a:t>
            </a:r>
          </a:p>
          <a:p>
            <a:pPr marL="444500" lvl="0" indent="-342900" algn="just">
              <a:lnSpc>
                <a:spcPct val="110000"/>
              </a:lnSpc>
              <a:spcBef>
                <a:spcPts val="120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lvl="0" indent="-342900">
              <a:lnSpc>
                <a:spcPct val="11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558800" lvl="0" indent="-457200">
              <a:lnSpc>
                <a:spcPct val="110000"/>
              </a:lnSpc>
              <a:spcBef>
                <a:spcPts val="120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2.0 Flash (Generative Pre-trained Transformer)</a:t>
            </a:r>
          </a:p>
          <a:p>
            <a:pPr marL="558800" lvl="0" indent="-457200">
              <a:lnSpc>
                <a:spcPct val="110000"/>
              </a:lnSpc>
              <a:spcBef>
                <a:spcPts val="120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SpeechRecognition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44500" lvl="0" indent="-342900">
              <a:lnSpc>
                <a:spcPct val="11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Front-end</a:t>
            </a:r>
          </a:p>
          <a:p>
            <a:pPr marL="444500" lvl="0" indent="-342900" algn="just">
              <a:lnSpc>
                <a:spcPct val="110000"/>
              </a:lnSpc>
              <a:spcBef>
                <a:spcPts val="120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Next.js (React)</a:t>
            </a:r>
          </a:p>
          <a:p>
            <a:pPr marL="444500" lvl="0" indent="-342900" algn="just">
              <a:lnSpc>
                <a:spcPct val="110000"/>
              </a:lnSpc>
              <a:spcBef>
                <a:spcPts val="120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pPr marL="444500" lvl="0" indent="-342900">
              <a:lnSpc>
                <a:spcPct val="11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Back-end</a:t>
            </a:r>
          </a:p>
          <a:p>
            <a:pPr marL="444500" lvl="0" indent="-342900" algn="just">
              <a:lnSpc>
                <a:spcPct val="110000"/>
              </a:lnSpc>
              <a:spcBef>
                <a:spcPts val="120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Neondb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(Drizzle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orm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44500" lvl="0" indent="-342900" algn="just">
              <a:lnSpc>
                <a:spcPct val="110000"/>
              </a:lnSpc>
              <a:spcBef>
                <a:spcPts val="1200"/>
              </a:spcBef>
              <a:buSzPct val="100000"/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0" lvl="0">
              <a:lnSpc>
                <a:spcPct val="110000"/>
              </a:lnSpc>
              <a:spcBef>
                <a:spcPts val="1200"/>
              </a:spcBef>
              <a:buSzPct val="100000"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1600" lvl="0">
              <a:lnSpc>
                <a:spcPct val="120000"/>
              </a:lnSpc>
              <a:spcBef>
                <a:spcPts val="1200"/>
              </a:spcBef>
              <a:buSzPct val="100000"/>
            </a:pPr>
            <a:endParaRPr lang="en-US" sz="4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800" lvl="0" indent="-457200">
              <a:lnSpc>
                <a:spcPct val="12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740391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/>
        </p:nvSpPr>
        <p:spPr>
          <a:xfrm>
            <a:off x="504762" y="-4220"/>
            <a:ext cx="9071100" cy="86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lvl="0">
              <a:lnSpc>
                <a:spcPct val="93000"/>
              </a:lnSpc>
              <a:buSzPts val="3600"/>
            </a:pPr>
            <a:r>
              <a:rPr lang="en-US" sz="3600" b="1" dirty="0">
                <a:latin typeface="Times New Roman"/>
                <a:cs typeface="Times New Roman"/>
                <a:sym typeface="Times New Roman"/>
              </a:rPr>
              <a:t>Implementation</a:t>
            </a:r>
            <a:endParaRPr lang="en-US" sz="3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F66075-ACA7-7945-F3B0-47E05BF57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63" y="860803"/>
            <a:ext cx="4455950" cy="25178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613D3C-8583-AC1A-78CB-7BE15BDD9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68" y="3779836"/>
            <a:ext cx="4477545" cy="25178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54D547-3CE9-3749-5770-ED8AC1B1A0F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19913" y="836839"/>
            <a:ext cx="4455949" cy="254179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0E6D3F-540E-EDDE-F07D-F83F748592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9913" y="3779836"/>
            <a:ext cx="4455949" cy="254179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65567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/>
        </p:nvSpPr>
        <p:spPr>
          <a:xfrm>
            <a:off x="504762" y="-4220"/>
            <a:ext cx="9071100" cy="86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lvl="0">
              <a:lnSpc>
                <a:spcPct val="93000"/>
              </a:lnSpc>
              <a:buSzPts val="3600"/>
            </a:pPr>
            <a:r>
              <a:rPr lang="en-US" sz="3600" b="1" dirty="0">
                <a:latin typeface="Times New Roman"/>
                <a:cs typeface="Times New Roman"/>
                <a:sym typeface="Times New Roman"/>
              </a:rPr>
              <a:t>Implementation</a:t>
            </a:r>
            <a:endParaRPr lang="en-US"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D9E33B-BA12-0154-2A6B-CE300A255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38" y="860802"/>
            <a:ext cx="4477545" cy="25178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E93B3E-F066-733E-2D12-51D5B9DF9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342" y="860802"/>
            <a:ext cx="4477544" cy="25178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55520B-2C16-3D0C-714B-0058812670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38" y="3779837"/>
            <a:ext cx="4477544" cy="25178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3EB692-2D1D-AD69-C5A0-F88B976251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340" y="3779837"/>
            <a:ext cx="4477546" cy="25178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04695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/>
        </p:nvSpPr>
        <p:spPr>
          <a:xfrm>
            <a:off x="504762" y="-4220"/>
            <a:ext cx="9071100" cy="86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lvl="0">
              <a:lnSpc>
                <a:spcPct val="93000"/>
              </a:lnSpc>
              <a:buSzPts val="3600"/>
            </a:pPr>
            <a:r>
              <a:rPr lang="en-US" sz="3600" b="1" dirty="0">
                <a:latin typeface="Times New Roman"/>
                <a:cs typeface="Times New Roman"/>
                <a:sym typeface="Times New Roman"/>
              </a:rPr>
              <a:t>Conclusion</a:t>
            </a:r>
            <a:endParaRPr lang="en-US" sz="3600" dirty="0"/>
          </a:p>
        </p:txBody>
      </p:sp>
      <p:sp>
        <p:nvSpPr>
          <p:cNvPr id="234" name="Google Shape;234;p26"/>
          <p:cNvSpPr txBox="1"/>
          <p:nvPr/>
        </p:nvSpPr>
        <p:spPr>
          <a:xfrm>
            <a:off x="504762" y="860803"/>
            <a:ext cx="9317908" cy="6612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44500" indent="-342900">
              <a:lnSpc>
                <a:spcPct val="12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this AI mock interview project has showcased the potential of artificial intelligence to revolutionize the recruitment process.  </a:t>
            </a:r>
          </a:p>
          <a:p>
            <a:pPr marL="444500" indent="-342900">
              <a:lnSpc>
                <a:spcPct val="12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insights gained from this project highlight the importance of careful design, ethical considerations, and ongoing refinement to ensure fairness and effectiveness.  </a:t>
            </a:r>
          </a:p>
          <a:p>
            <a:pPr marL="444500" indent="-342900">
              <a:lnSpc>
                <a:spcPct val="12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Ultimately, the successful implementation of AI in recruitment promises to streamline workflows for recruiters, improve the candidate experience, and ultimately contribute to building stronger and more diverse teams.</a:t>
            </a:r>
          </a:p>
          <a:p>
            <a:pPr marL="101600" lvl="0">
              <a:lnSpc>
                <a:spcPct val="120000"/>
              </a:lnSpc>
              <a:spcBef>
                <a:spcPts val="1200"/>
              </a:spcBef>
              <a:buSzPct val="100000"/>
            </a:pPr>
            <a:endParaRPr lang="en-US" sz="4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800" lvl="0" indent="-457200">
              <a:lnSpc>
                <a:spcPct val="120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165935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/>
        </p:nvSpPr>
        <p:spPr>
          <a:xfrm>
            <a:off x="504762" y="-4220"/>
            <a:ext cx="9071100" cy="86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lvl="0">
              <a:lnSpc>
                <a:spcPct val="93000"/>
              </a:lnSpc>
              <a:buSzPts val="3600"/>
            </a:pPr>
            <a:r>
              <a:rPr lang="en-US" sz="3600" b="1" dirty="0">
                <a:latin typeface="Times New Roman"/>
                <a:cs typeface="Times New Roman"/>
                <a:sym typeface="Times New Roman"/>
              </a:rPr>
              <a:t>References</a:t>
            </a:r>
            <a:endParaRPr lang="en-US" sz="3600" dirty="0"/>
          </a:p>
        </p:txBody>
      </p:sp>
      <p:sp>
        <p:nvSpPr>
          <p:cNvPr id="234" name="Google Shape;234;p26"/>
          <p:cNvSpPr txBox="1"/>
          <p:nvPr/>
        </p:nvSpPr>
        <p:spPr>
          <a:xfrm>
            <a:off x="504762" y="860803"/>
            <a:ext cx="9317908" cy="6612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Y. -C. Chou, F. R.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Wongso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-Y. Chao and H. -Y. Yu, "An AI Mock-interview Platform for Interview Performance Analysis," 2022 10th International Conference on Information and Education Technology (ICIET), Matsue, Japan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R. Mandal, P.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Lohar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D. Patil, A. Patil and S. Wagh, "AI -Based mock interview evaluator," 2023 International Conference on Intelligent Systems for Communication, IoT and Security (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ICISCoIS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Coimbatore, India</a:t>
            </a:r>
          </a:p>
          <a:p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P. K. Mishra, A. K.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Arulappan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 -H. Ra, T. M. L, G. R. G and Y. -S. Lee, "AI-Driven Virtual Mock Interview Development," 2024 Joint 13th International Conference on Soft Computing and Intelligent Systems and 25th International Symposium on Advanced Intelligent Systems (SCIS&amp;ISIS), Himeji, Japan.</a:t>
            </a:r>
          </a:p>
          <a:p>
            <a:pPr marL="101600" lvl="0">
              <a:lnSpc>
                <a:spcPct val="120000"/>
              </a:lnSpc>
              <a:spcBef>
                <a:spcPts val="1200"/>
              </a:spcBef>
              <a:buSzPct val="100000"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49554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7"/>
          <p:cNvSpPr txBox="1"/>
          <p:nvPr/>
        </p:nvSpPr>
        <p:spPr>
          <a:xfrm>
            <a:off x="647700" y="30575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675" rIns="0" bIns="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You...!!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defaul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FFFFFF"/>
      </a:accent3>
      <a:accent4>
        <a:srgbClr val="5FCBEF"/>
      </a:accent4>
      <a:accent5>
        <a:srgbClr val="2E83C3"/>
      </a:accent5>
      <a:accent6>
        <a:srgbClr val="FFFFFF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966</Words>
  <Application>Microsoft Office PowerPoint</Application>
  <PresentationFormat>Custom</PresentationFormat>
  <Paragraphs>169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Courier New</vt:lpstr>
      <vt:lpstr>Noto Sans Symbols</vt:lpstr>
      <vt:lpstr>Times New Roman</vt:lpstr>
      <vt:lpstr>Trebuchet MS</vt:lpstr>
      <vt:lpstr>Facet</vt:lpstr>
      <vt:lpstr>Facet</vt:lpstr>
      <vt:lpstr>1_Facet</vt:lpstr>
      <vt:lpstr>2_Facet</vt:lpstr>
      <vt:lpstr>3_Facet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nishapatel262216@outlook.com</cp:lastModifiedBy>
  <cp:revision>35</cp:revision>
  <dcterms:modified xsi:type="dcterms:W3CDTF">2025-04-22T03:36:58Z</dcterms:modified>
</cp:coreProperties>
</file>